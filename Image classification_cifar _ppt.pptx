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Robo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ACBBDE-FFC7-4198-9D7A-C84D6BE36AE0}">
  <a:tblStyle styleId="{29ACBBDE-FFC7-4198-9D7A-C84D6BE36A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1ce26e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1ce26e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31ce26e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31ce26e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31ce26e6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31ce26e6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31ce26e6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31ce26e6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1ce26e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1ce26e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31ce26e6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31ce26e6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1ce26e6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1ce26e6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1ce26e6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31ce26e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31ce26e6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31ce26e6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1ce26e6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31ce26e6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31ce26e6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31ce26e6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1ce26e6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31ce26e6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31ce26e6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31ce26e6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1ce26e6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31ce26e6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350762e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350762e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350762ef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350762ef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50762ef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50762ef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50762ef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350762ef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350762ef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350762ef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361325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361325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36132564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36132564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50762ef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350762ef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5-11-14 a las 0.38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463" y="988227"/>
            <a:ext cx="7421076" cy="31670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7036975" y="4320625"/>
            <a:ext cx="2107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Frank Sarfo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Lokesh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Rafael Dias Rocha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b="1" lang="en" sz="2200">
                <a:latin typeface="Roboto"/>
                <a:ea typeface="Roboto"/>
                <a:cs typeface="Roboto"/>
                <a:sym typeface="Roboto"/>
              </a:rPr>
              <a:t>Basic CNN - Architecture &amp; Performance</a:t>
            </a:r>
            <a:endParaRPr b="1" sz="2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9FAFB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017725"/>
            <a:ext cx="30000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Initial Approach &amp; Findings: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developed a custom CNN with three convolutional layers of increasing filter complexity (32→64→64).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model achieved strong training accuracy (78.2%), but showed clear signs of overfitting, with validation performance dropping to 68.6%.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9.6% generalization gap indicates the model was memorizing training data patterns rather than learning robust, transferable features.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" name="Google Shape;62;p14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700" y="1801250"/>
            <a:ext cx="5527500" cy="181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253"/>
              <a:buFont typeface="Arial"/>
              <a:buNone/>
            </a:pPr>
            <a:r>
              <a:rPr b="1" lang="en" sz="2188">
                <a:latin typeface="Roboto"/>
                <a:ea typeface="Roboto"/>
                <a:cs typeface="Roboto"/>
                <a:sym typeface="Roboto"/>
              </a:rPr>
              <a:t>CNN WITH DATA AUGMENTATION</a:t>
            </a:r>
            <a:endParaRPr b="1" sz="218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1017725"/>
            <a:ext cx="30000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Enhanced Methodology &amp; Results: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combat overfitting, we implemented a comprehensive regularization strategy including data augmentation (rotations, shifts, flips), batch normalization, and progressive dropout (25-50%).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approach yielded remarkable improvements: test accuracy increased to 76.8% (+8.2% improvement).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model demonstrated significantly better generalization across all classes.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9" name="Google Shape;69;p1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100" y="1520275"/>
            <a:ext cx="5527499" cy="219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253"/>
              <a:buFont typeface="Arial"/>
              <a:buNone/>
            </a:pPr>
            <a:r>
              <a:rPr b="1" lang="en" sz="2188">
                <a:latin typeface="Roboto"/>
                <a:ea typeface="Roboto"/>
                <a:cs typeface="Roboto"/>
                <a:sym typeface="Roboto"/>
              </a:rPr>
              <a:t>COMPARISON: WITH vs WITHOUT AUGMENTATION</a:t>
            </a:r>
            <a:endParaRPr b="1" sz="218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1017725"/>
            <a:ext cx="3000000" cy="3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Comparative Performance Analysis: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systematic evaluation revealed substantial improvements across all metrics.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CNN with data augmentation achieved 76.8% test accuracy compared to 68.6% without augmentation - an 8.2% improvement.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significant gain demonstrates data data augmentation effectiveness in enhancing model generalization and reducing overfitting, leading to more robust feature learning.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6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100" y="1445713"/>
            <a:ext cx="5527501" cy="2524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253"/>
              <a:buFont typeface="Arial"/>
              <a:buNone/>
            </a:pPr>
            <a:r>
              <a:rPr b="1" lang="en" sz="2188">
                <a:latin typeface="Roboto"/>
                <a:ea typeface="Roboto"/>
                <a:cs typeface="Roboto"/>
                <a:sym typeface="Roboto"/>
              </a:rPr>
              <a:t>TRANSFER LEARNING WITH MOBILENETV2</a:t>
            </a:r>
            <a:endParaRPr b="1" sz="218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1017725"/>
            <a:ext cx="3000000" cy="4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Strategy Implementation: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leveraged MobileNetV2 pre-trained on ImageNet, employing a sophisticated two-phase training approach.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critical preprocessing step involved resizing images from 32×32 to 96×96 pixels, ensuring compatibility with MobileNetV2's architecture while preserving essential visual information.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base network was initially frozen while custom classification layers were trained, followed by careful fine-tuning of the final 50 layers.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strategy capitalized on established feature extraction capabilities while adapting the model to our specific CIFAR-10 classification task, significantly reducing training time and computational requirements.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7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900" y="1474538"/>
            <a:ext cx="4564899" cy="21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253"/>
              <a:buFont typeface="Arial"/>
              <a:buNone/>
            </a:pPr>
            <a:r>
              <a:rPr b="1" lang="en" sz="2188">
                <a:latin typeface="Roboto"/>
                <a:ea typeface="Roboto"/>
                <a:cs typeface="Roboto"/>
                <a:sym typeface="Roboto"/>
              </a:rPr>
              <a:t>TRANSFER LEARNING RESULTS</a:t>
            </a:r>
            <a:endParaRPr b="1" sz="218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311700" y="1017725"/>
            <a:ext cx="3000000" cy="28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Performance Breakthrough: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transfer learning approach achieved exceptional results with 91.23% test accuracy - a 32.9% improvement over our baseline CNN and 18.8% improvement over the augmented model.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model demonstrated outstanding performance on distinct categories like ships (95%+) and airplanes (93%+), while maintaining consistent accuracy across all classes with minimal overfitting and stable convergence.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0" name="Google Shape;90;p18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750" y="1665225"/>
            <a:ext cx="5527500" cy="181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50253"/>
              <a:buFont typeface="Arial"/>
              <a:buNone/>
            </a:pPr>
            <a:r>
              <a:rPr b="1" lang="en" sz="2188">
                <a:latin typeface="Roboto"/>
                <a:ea typeface="Roboto"/>
                <a:cs typeface="Roboto"/>
                <a:sym typeface="Roboto"/>
              </a:rPr>
              <a:t>DETAILED TL ANALYSIS</a:t>
            </a:r>
            <a:endParaRPr b="1" sz="2188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/>
        </p:nvSpPr>
        <p:spPr>
          <a:xfrm>
            <a:off x="311700" y="1017725"/>
            <a:ext cx="3000000" cy="3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Comprehensive Performance Assessment: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the outstanding 91.23% overall accuracy, our analysis reveals persistent challenges in distinguishing semantically similar categories.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Cat classification remained the most challenging at approximately 86%, with common confusions occurring between cats/dogs and birds/airplanes.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However, transfer learning conclusively proved superior, delivering the optimal balance between performance (91.23%), training efficiency, and generalization capability while leveraging pre-existing feature knowledge.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7" name="Google Shape;97;p19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2550" y="995888"/>
            <a:ext cx="449327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280225" y="23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DenseNet 121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70749"/>
            <a:ext cx="8520599" cy="127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20"/>
          <p:cNvGraphicFramePr/>
          <p:nvPr/>
        </p:nvGraphicFramePr>
        <p:xfrm>
          <a:off x="626300" y="367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1274375"/>
                <a:gridCol w="1320400"/>
                <a:gridCol w="1371150"/>
                <a:gridCol w="1109725"/>
                <a:gridCol w="1542400"/>
                <a:gridCol w="13759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 Size(Mb)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Top 1 acc(%)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Top 5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Parameters(M)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Depth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DenseNet121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74.91%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92.38%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8.0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20"/>
          <p:cNvSpPr txBox="1"/>
          <p:nvPr>
            <p:ph type="title"/>
          </p:nvPr>
        </p:nvSpPr>
        <p:spPr>
          <a:xfrm>
            <a:off x="280225" y="2241425"/>
            <a:ext cx="8520600" cy="11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Dense connectivity boosts feature reuse.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Low parameter count, high efficiency.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Strong accuracy for image classification tasks.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775" y="0"/>
            <a:ext cx="5033376" cy="512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9900" y="361950"/>
            <a:ext cx="3979551" cy="4397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" name="Google Shape;112;p21"/>
          <p:cNvSpPr/>
          <p:nvPr/>
        </p:nvSpPr>
        <p:spPr>
          <a:xfrm>
            <a:off x="5336225" y="2170650"/>
            <a:ext cx="3566700" cy="21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5265450" y="2629750"/>
            <a:ext cx="3566700" cy="2121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/>
          <p:nvPr/>
        </p:nvSpPr>
        <p:spPr>
          <a:xfrm>
            <a:off x="1706625" y="150215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/>
          <p:nvPr/>
        </p:nvSpPr>
        <p:spPr>
          <a:xfrm>
            <a:off x="2385950" y="2330925"/>
            <a:ext cx="484500" cy="3303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/>
          <p:nvPr/>
        </p:nvSpPr>
        <p:spPr>
          <a:xfrm>
            <a:off x="1706625" y="229945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968400" y="3956975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2408000" y="150215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280225" y="23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DenseNet 121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280225" y="3586375"/>
            <a:ext cx="8096400" cy="13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Fine Tuning: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Data </a:t>
            </a:r>
            <a:r>
              <a:rPr b="1" lang="en" sz="1400"/>
              <a:t>augmentation(Rotation, Translation, Zooming, Flipping)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Freezing Layers(First Layers, Last Layers)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Classification head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Callbacks</a:t>
            </a:r>
            <a:endParaRPr b="1" sz="1400"/>
          </a:p>
        </p:txBody>
      </p:sp>
      <p:graphicFrame>
        <p:nvGraphicFramePr>
          <p:cNvPr id="125" name="Google Shape;125;p22"/>
          <p:cNvGraphicFramePr/>
          <p:nvPr/>
        </p:nvGraphicFramePr>
        <p:xfrm>
          <a:off x="280225" y="96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1290675"/>
                <a:gridCol w="1337300"/>
                <a:gridCol w="1388700"/>
                <a:gridCol w="1254975"/>
                <a:gridCol w="1074175"/>
                <a:gridCol w="1750475"/>
              </a:tblGrid>
              <a:tr h="6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Train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Valid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acc(%)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Test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Train Loss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Valid Loss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DenseNet121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(base Model)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1.81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1.78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DenseNet121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(Fine Tuning)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Densenet 121 Plots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4199750"/>
            <a:ext cx="85206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09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Roboto"/>
              <a:buChar char="●"/>
            </a:pPr>
            <a:r>
              <a:rPr lang="en" sz="114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 improves rapidly and plateaus above 93%.</a:t>
            </a:r>
            <a:endParaRPr sz="114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09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Roboto"/>
              <a:buChar char="●"/>
            </a:pPr>
            <a:r>
              <a:rPr lang="en" sz="114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 and validation loss steadily decrease and stay close.</a:t>
            </a:r>
            <a:endParaRPr sz="114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09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Roboto"/>
              <a:buChar char="●"/>
            </a:pPr>
            <a:r>
              <a:rPr lang="en" sz="114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signs of overfitting; model generalizes well to unseen data.</a:t>
            </a:r>
            <a:endParaRPr sz="114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791375"/>
            <a:ext cx="81534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280225" y="23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EfficientNet_V2_B0</a:t>
            </a:r>
            <a:endParaRPr/>
          </a:p>
        </p:txBody>
      </p:sp>
      <p:graphicFrame>
        <p:nvGraphicFramePr>
          <p:cNvPr id="138" name="Google Shape;138;p24"/>
          <p:cNvGraphicFramePr/>
          <p:nvPr/>
        </p:nvGraphicFramePr>
        <p:xfrm>
          <a:off x="225200" y="371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1625000"/>
                <a:gridCol w="1059125"/>
                <a:gridCol w="1418350"/>
                <a:gridCol w="1297350"/>
                <a:gridCol w="1603375"/>
                <a:gridCol w="1266025"/>
              </a:tblGrid>
              <a:tr h="554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 Size(Mb)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Top 1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acc(%)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Top 5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Parameters(M)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Depth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EfficientNetV2B0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94.3%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9" name="Google Shape;139;p24"/>
          <p:cNvGrpSpPr/>
          <p:nvPr/>
        </p:nvGrpSpPr>
        <p:grpSpPr>
          <a:xfrm rot="-5400000">
            <a:off x="5428298" y="123456"/>
            <a:ext cx="3566353" cy="3319427"/>
            <a:chOff x="7654550" y="2022850"/>
            <a:chExt cx="4807701" cy="3927851"/>
          </a:xfrm>
        </p:grpSpPr>
        <p:pic>
          <p:nvPicPr>
            <p:cNvPr descr="Model scaling of EfficientNet. (a) An example of baseline network. (b)... |  Download Scientific Diagram" id="140" name="Google Shape;140;p24"/>
            <p:cNvPicPr preferRelativeResize="0"/>
            <p:nvPr/>
          </p:nvPicPr>
          <p:blipFill rotWithShape="1">
            <a:blip r:embed="rId3">
              <a:alphaModFix/>
            </a:blip>
            <a:srcRect b="0" l="39660" r="0" t="0"/>
            <a:stretch/>
          </p:blipFill>
          <p:spPr>
            <a:xfrm rot="5400000">
              <a:off x="8534400" y="1143000"/>
              <a:ext cx="3048000" cy="4807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48800" y="5694630"/>
              <a:ext cx="381000" cy="2560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24"/>
          <p:cNvSpPr txBox="1"/>
          <p:nvPr>
            <p:ph type="title"/>
          </p:nvPr>
        </p:nvSpPr>
        <p:spPr>
          <a:xfrm>
            <a:off x="99350" y="1274075"/>
            <a:ext cx="5571000" cy="18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High accuracy, low compute.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Compound scaling: depth, width, resolution.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Small models, fast inference.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50" y="0"/>
            <a:ext cx="52535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2925" y="270375"/>
            <a:ext cx="3810175" cy="37327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5"/>
          <p:cNvSpPr/>
          <p:nvPr/>
        </p:nvSpPr>
        <p:spPr>
          <a:xfrm>
            <a:off x="1856050" y="1525750"/>
            <a:ext cx="511200" cy="306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/>
          <p:nvPr/>
        </p:nvSpPr>
        <p:spPr>
          <a:xfrm>
            <a:off x="1891450" y="229650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/>
          <p:nvPr/>
        </p:nvSpPr>
        <p:spPr>
          <a:xfrm>
            <a:off x="2640600" y="233390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5"/>
          <p:cNvSpPr/>
          <p:nvPr/>
        </p:nvSpPr>
        <p:spPr>
          <a:xfrm>
            <a:off x="1086375" y="3949125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2640600" y="1525750"/>
            <a:ext cx="440400" cy="3303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5292925" y="1832350"/>
            <a:ext cx="3566700" cy="21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5292925" y="2173625"/>
            <a:ext cx="3566700" cy="212100"/>
          </a:xfrm>
          <a:prstGeom prst="rect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280225" y="23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EfficientNetV2_B0 Plots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280225" y="3090800"/>
            <a:ext cx="8268600" cy="18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Fine Tuning:</a:t>
            </a:r>
            <a:endParaRPr b="1" sz="1400"/>
          </a:p>
          <a:p>
            <a:pPr indent="-29749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Data augmentation(Rotation, Translation, Zooming, Flipping)</a:t>
            </a:r>
            <a:endParaRPr b="1" sz="1400"/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Freezing Layers(First Layers, Last Layers)</a:t>
            </a:r>
            <a:endParaRPr b="1" sz="1400"/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Classification head </a:t>
            </a:r>
            <a:endParaRPr b="1" sz="1400"/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32*32*3—---------&gt; 164*164*3</a:t>
            </a:r>
            <a:endParaRPr b="1" sz="1400"/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Callbacks</a:t>
            </a:r>
            <a:endParaRPr b="1" sz="1400"/>
          </a:p>
          <a:p>
            <a:pPr indent="-29749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1400"/>
              <a:t>Learning Rate control</a:t>
            </a:r>
            <a:endParaRPr b="1"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400"/>
          </a:p>
        </p:txBody>
      </p:sp>
      <p:graphicFrame>
        <p:nvGraphicFramePr>
          <p:cNvPr id="162" name="Google Shape;162;p26"/>
          <p:cNvGraphicFramePr/>
          <p:nvPr/>
        </p:nvGraphicFramePr>
        <p:xfrm>
          <a:off x="280225" y="96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1712375"/>
                <a:gridCol w="989625"/>
                <a:gridCol w="1427825"/>
                <a:gridCol w="1290325"/>
                <a:gridCol w="1104425"/>
                <a:gridCol w="1799775"/>
              </a:tblGrid>
              <a:tr h="6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Train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Valid acc(%)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Test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Train Loss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Valid Loss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EfficientNetV2_bo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(base Model)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EfficientNetV2_bo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(Fine Tuning)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EfficientNetV2_B0 Plots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311700" y="4199750"/>
            <a:ext cx="85206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Accuracy improves rapidly and exceeds 95% for both train and validation sets.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Loss values decrease and remain closely matched, indicating stable and effective learning.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sign of overfitting, as training and validation curves track closely throughout.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25" y="820800"/>
            <a:ext cx="7829321" cy="322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EfficientNetB0 Architecture Overview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857600" y="1331900"/>
            <a:ext cx="3974700" cy="282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Pretrained on ImageNet → strong feature extractor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Convolution layers reused for CIFAR-10 images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Custom dense layers added for 10-class classification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Fine-tuned top layers for improved accuracy &amp; generalization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175" y="1184230"/>
            <a:ext cx="4267201" cy="291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Selective Fine-Tuning Strategy (EfficientNetB0)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233775" y="1119675"/>
            <a:ext cx="4598400" cy="3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1: Train classification head only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Phase 2: Unfreeze the last 30–40 layers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Freeze first 70+ layers for stable transfer learning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low learning rate (1e-5) to avoid damaging pretrained weights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Benefits: Prevents catastrophic forgetting &amp; improves class-specific learning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225" y="838300"/>
            <a:ext cx="3241599" cy="42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Progress: Accuracy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776275" y="882788"/>
            <a:ext cx="4161000" cy="3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training accuracy curve shows steady improvements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validation accuracy curve follows a similar trend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small gap between training and validation accuracy indicates minimal overfitting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Fine-tuning phase gives the biggest jump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6103"/>
            <a:ext cx="4359601" cy="318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311700" y="180900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vs Validation Loss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4863749" y="882788"/>
            <a:ext cx="4161000" cy="3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Sharp fall in loss during early epochs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Validation loss consistently decreasing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oscillation → stable training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en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Dropout + batch normalization preventing overfitting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19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0"/>
              <a:buFont typeface="Roboto"/>
              <a:buChar char="●"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0800"/>
            <a:ext cx="4796500" cy="36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136749" y="338345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 Evaluation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209950" y="1102175"/>
            <a:ext cx="3303900" cy="3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The matrix shows </a:t>
            </a:r>
            <a:r>
              <a:rPr b="1" lang="en" sz="2100">
                <a:solidFill>
                  <a:schemeClr val="dk1"/>
                </a:solidFill>
              </a:rPr>
              <a:t>high precision and recall</a:t>
            </a:r>
            <a:r>
              <a:rPr lang="en" sz="2100">
                <a:solidFill>
                  <a:schemeClr val="dk1"/>
                </a:solidFill>
              </a:rPr>
              <a:t> across all classes, with only minor confusion occurring between visually similar objects (e.g., cat/dog, truck/automobile).</a:t>
            </a:r>
            <a:endParaRPr sz="3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275" y="444700"/>
            <a:ext cx="4991099" cy="44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33"/>
          <p:cNvGraphicFramePr/>
          <p:nvPr/>
        </p:nvGraphicFramePr>
        <p:xfrm>
          <a:off x="342975" y="128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1529900"/>
                <a:gridCol w="1074375"/>
                <a:gridCol w="1376175"/>
                <a:gridCol w="1243650"/>
                <a:gridCol w="1064500"/>
                <a:gridCol w="1964925"/>
              </a:tblGrid>
              <a:tr h="60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Train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Valid acc(%)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Test acc(%)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Train Loss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Valid Loss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D9EE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CNN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78.2%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68.6%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68.6%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CNN Aug.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71.0%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76.1%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76.8%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0.691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MobileNetV2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95.7%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91.2%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EfficientNetB0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98.3%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96.7%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96.7%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DenseNet121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94.2%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94%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0.021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C45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EfficientNetv2B0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98%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97%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33"/>
          <p:cNvSpPr txBox="1"/>
          <p:nvPr>
            <p:ph type="title"/>
          </p:nvPr>
        </p:nvSpPr>
        <p:spPr>
          <a:xfrm>
            <a:off x="342974" y="338345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Model </a:t>
            </a:r>
            <a:r>
              <a:rPr lang="en"/>
              <a:t>Comparison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Learning vs. Scratch</a:t>
            </a:r>
            <a:endParaRPr/>
          </a:p>
        </p:txBody>
      </p:sp>
      <p:graphicFrame>
        <p:nvGraphicFramePr>
          <p:cNvPr id="216" name="Google Shape;216;p34"/>
          <p:cNvGraphicFramePr/>
          <p:nvPr/>
        </p:nvGraphicFramePr>
        <p:xfrm>
          <a:off x="952500" y="11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{29ACBBDE-FFC7-4198-9D7A-C84D6BE36AE0}</a:tableStyleId>
              </a:tblPr>
              <a:tblGrid>
                <a:gridCol w="2413000"/>
                <a:gridCol w="2413000"/>
                <a:gridCol w="2413000"/>
              </a:tblGrid>
              <a:tr h="37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Feature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Transfer Learning (TL)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Building From Scratch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72C4"/>
                    </a:solidFill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Data Requirement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Low (Small to medium dataset)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High (Requires massive dataset, often millions)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Training Time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Very Fast (Only fine-tuning the last layers)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Very Slow (Training all layers from scratch)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Computational Cost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Low (Primarily inference and fine-tuning)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Very High (Requires extensive GPU/TPU time)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Initial Performance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High Baseline (Leverages pre-trained knowledge)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Low (Starts randomly, depends entirely on your data)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Customization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Low (Constrained by the base architecture)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High (Full control over every layer)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1F2"/>
                    </a:solidFill>
                  </a:tcPr>
                </a:tc>
              </a:tr>
              <a:tr h="53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B1C1D"/>
                          </a:solidFill>
                        </a:rPr>
                        <a:t>Best For</a:t>
                      </a:r>
                      <a:endParaRPr b="1"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Common tasks, small/medium data, quick deployment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B1C1D"/>
                          </a:solidFill>
                        </a:rPr>
                        <a:t>Novel problems, highly unique domains, unlimited resources</a:t>
                      </a:r>
                      <a:endParaRPr sz="1100">
                        <a:solidFill>
                          <a:srgbClr val="1B1C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136749" y="338345"/>
            <a:ext cx="8520600" cy="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>
            <a:off x="265000" y="1102175"/>
            <a:ext cx="6073800" cy="3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The transfer learning models, particularly </a:t>
            </a:r>
            <a:r>
              <a:rPr b="1" lang="en" sz="1700">
                <a:solidFill>
                  <a:schemeClr val="dk1"/>
                </a:solidFill>
              </a:rPr>
              <a:t>EfficientNetv2B0</a:t>
            </a:r>
            <a:r>
              <a:rPr lang="en" sz="1700">
                <a:solidFill>
                  <a:schemeClr val="dk1"/>
                </a:solidFill>
              </a:rPr>
              <a:t> and </a:t>
            </a:r>
            <a:r>
              <a:rPr b="1" lang="en" sz="1700">
                <a:solidFill>
                  <a:schemeClr val="dk1"/>
                </a:solidFill>
              </a:rPr>
              <a:t>EfficientNetB0</a:t>
            </a:r>
            <a:r>
              <a:rPr lang="en" sz="1700">
                <a:solidFill>
                  <a:schemeClr val="dk1"/>
                </a:solidFill>
              </a:rPr>
              <a:t>, are the most powerful, high-accuracy, production-ready image classifiers, </a:t>
            </a:r>
            <a:r>
              <a:rPr b="1" lang="en" sz="1700">
                <a:solidFill>
                  <a:schemeClr val="dk1"/>
                </a:solidFill>
              </a:rPr>
              <a:t>significantly outperforming</a:t>
            </a:r>
            <a:r>
              <a:rPr lang="en" sz="1700">
                <a:solidFill>
                  <a:schemeClr val="dk1"/>
                </a:solidFill>
              </a:rPr>
              <a:t> the custom CNN and the MobileNetV2 model.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EfficientNetv2B0</a:t>
            </a:r>
            <a:r>
              <a:rPr lang="en" sz="1700">
                <a:solidFill>
                  <a:schemeClr val="dk1"/>
                </a:solidFill>
              </a:rPr>
              <a:t> achieved the highest test accuracy (97%), narrowly exceeding EfficientNetB0's 96.7% and DenseNet121's 94%.</a:t>
            </a:r>
            <a:endParaRPr sz="3700">
              <a:solidFill>
                <a:schemeClr val="dk1"/>
              </a:solidFill>
            </a:endParaRPr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8825" y="749700"/>
            <a:ext cx="2780250" cy="399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